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4114800" cy="38404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D4BF"/>
                </a:solidFill>
                <a:latin typeface="Segoe UI"/>
              </a:defRPr>
            </a:pPr>
            <a:r>
              <a:t>HAPPIEST HEALTH CRP 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CogniSense &amp; CogniTwin</a:t>
            </a:r>
          </a:p>
          <a:p>
            <a:pPr>
              <a:defRPr sz="2200" b="1">
                <a:solidFill>
                  <a:srgbClr val="2DD4BF"/>
                </a:solidFill>
                <a:latin typeface="Segoe UI"/>
              </a:defRPr>
            </a:pPr>
            <a:r>
              <a:t>System Architecture &amp; Clinical Integration Blueprint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Multimodal Continuous Patient Digital Twin for Early Alzheimer's &amp; MCI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49039"/>
            <a:ext cx="2377440" cy="16459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MULTIMODAL SENSING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Continuous 7-day wearable telemetry + 8-min active speech &amp; memory battery + static EHR baselines.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749039"/>
            <a:ext cx="2377440" cy="16459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DIGITAL TWIN ENGINE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5 deterministic clinical states, rolling 3d/7d trends, personal baseline normalization &amp; zero future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2377440" cy="16459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CALIBRATED PREDICTION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Platt sigmoid calibrated 30-day deterioration risk (0.982 ROC-AUC) with Wilson 95% confidence intervals.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39" y="3749039"/>
            <a:ext cx="2377440" cy="16459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CLINICAL CARE INTEGRATION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HL7 FHIR R4 standardized export + Pune verified memory clinic referral network with GPS triage.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1F5F9"/>
                </a:solidFill>
                <a:latin typeface="Segoe UI"/>
              </a:defRPr>
            </a:pPr>
            <a:r>
              <a:t>Team MEDVORTEX | Army Institute of Technology (AIT), Pune | Lead ML: Yuvraj Shekhawat</a:t>
            </a:r>
          </a:p>
          <a:p>
            <a:pPr>
              <a:defRPr sz="900">
                <a:solidFill>
                  <a:srgbClr val="F59E0B"/>
                </a:solidFill>
                <a:latin typeface="Calibri"/>
              </a:defRPr>
            </a:pPr>
            <a:r>
              <a:t>REGULATORY POSITIONING: Screening aid, not a diagnosis. Strictly non-diagnostic Clinical Decision Support prototype.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SYSTEM ARCHITECTURE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End-to-End System Architecture (4-Tier Blueprint)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Segregated flow from edge sensing and audio processing to digital twin analytics and clinical EHR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143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TIER 1: MULTIMODAL INGESTION &amp; SENSING 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6420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Passive Smartwatch Telemetry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Continuous HR, RMSSD HRV, Sleep staging (Deep/REM), Daily Steps &amp; Gait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6420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Active Cognitive Battery (8m)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Local speech description (Cookie Theft), Word recall, Digital trail-making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19" y="166420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EHR &amp; Laboratory Baselines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Age, Education, Baseline MoCA, Vit B12, TSH, Chol, ApoE-e4, Comorbidities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143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TIER 2: SECURE EDGE &amp; IN-CLINIC MICROSERVICES 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4436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Local Speech Audio Pipeline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faster-whisper local ASR, acoustic pause tracking, zero cloud audio egress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94436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Sensor Quality Control Gate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Audio SNR/clipping validation + wearable dropout detection (quality &lt; 0.65)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19" y="294436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FastAPI REST Microservice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High-throughput async endpoints, thread-safe SQLite store (data/cognitwin.db)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143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TIER 3: COGNITWIN CORE INTELLIGENCE ENGINE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2452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Daily Patient State Engine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Personal baseline calibration (Days 1-3), 5 deterministic states, zero future leakage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22452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Calibrated 30-Day Predictor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Grouped 5-Fold CV Platt classifier (0.982 ROC-AUC) + Wilson 95% CIs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19" y="422452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TreeSHAP &amp; What-If Simulator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Direction-aware feature drivers + real-time intervention sensitivity sliders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728655" cy="1143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TIER 4: CLINICAL INTERACTION &amp; INTEROPERABILITY 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50468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Streamlit Clinician OPD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Interactive Day 1 -&gt; 7+ timeline scrubber, state delta comparison &amp; What-If sim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50468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React 18 Multilingual Web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Senior-accessible UI (Atkinson Hyperlegible), English/Hindi/Marathi, Zero PHI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19" y="5504688"/>
            <a:ext cx="3337560" cy="749808"/>
          </a:xfrm>
          <a:prstGeom prst="roundRect">
            <a:avLst/>
          </a:prstGeom>
          <a:solidFill>
            <a:srgbClr val="0B1325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00" b="1">
                <a:solidFill>
                  <a:srgbClr val="F1F5F9"/>
                </a:solidFill>
                <a:latin typeface="Segoe UI"/>
              </a:defRPr>
            </a:pPr>
            <a:r>
              <a:t>HL7 FHIR R4 &amp; Pune Referral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Standardized RiskAssessment bundle export + Pune verified memory clinic locator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HIGH-RESOLUTION VISUAL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Master System Architecture Diagram (Visual Overview)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End-to-end data flow with latency budgets, security perimeter, and modular components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STATE MACHINE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CogniTwin: Daily Patient State Engine Architecture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Deterministic finite-state machine tracking personal baseline deviations across 5 clinical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057400" cy="23317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1. BASELINE_INITIALIZING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Trigger: Days 1 to 2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Establishes personal baseline bounds across HRV, Resting HR, Deep Sleep, and daily Steps. Suppresses premature false alarms.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417320"/>
            <a:ext cx="2057400" cy="23317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2. STABLE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Trigger: Deviations &lt;= 15%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Biometric telemetry tracks within individual norms. HRV slope stable (&gt;-1.5 ms/day), deep sleep ratio preserved (&gt;15%). Routine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417320"/>
            <a:ext cx="2057400" cy="23317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3. PHYSIOLOGICAL_DECLINE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Trigger: &gt;=2 Multi-Domain Drops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&gt;= 2 adverse personal shifts: HRV drop &gt;= 20%, Deep Sleep drop &gt;= 25%, Steps drop &gt;= 25%, or RHR jump &gt;= +5 bpm. Early warning trigger.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417320"/>
            <a:ext cx="2057400" cy="23317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EF4444"/>
                </a:solidFill>
                <a:latin typeface="Segoe UI"/>
              </a:defRPr>
            </a:pPr>
            <a:r>
              <a:t>4. COGNITIVE_RISK_ELEVATED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Trigger: Decline + Cog Baseline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Multi-domain decline superimposed on low baseline MoCA (&lt;24) or prior MCI. High probability of acute 30-day deterioration.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417320"/>
            <a:ext cx="2057400" cy="23317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5. DATA_QUALITY_ALERT</a:t>
            </a:r>
          </a:p>
          <a:p>
            <a:pPr>
              <a:defRPr sz="800" b="1">
                <a:solidFill>
                  <a:srgbClr val="FFFFFF"/>
                </a:solidFill>
                <a:latin typeface="Segoe UI"/>
              </a:defRPr>
            </a:pPr>
            <a:r>
              <a:t>Trigger: Sensor Quality &lt; 0.65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Watch off-wrist, missing data, or low SNR. SAFETY GUARD: Freezes state transitions and prevents hallucinating decline from sensor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10728655" cy="2286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CORE ALGORITHMIC PRINCIPLES IMPLEMENTED IN DailyPatientStateEngine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•  Zero Future Information Leakage: </a:t>
            </a:r>
            <a:r>
              <a:rPr sz="800" b="0">
                <a:solidFill>
                  <a:srgbClr val="94A3B8"/>
                </a:solidFill>
                <a:latin typeface="Calibri"/>
              </a:rPr>
              <a:t>State calculation on Day t strictly accesses observations in [1 ... t]. Future timepoints are inaccessible, preserving strict temporal validity and reproducibility.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•  Personal Baseline Normalization: </a:t>
            </a:r>
            <a:r>
              <a:rPr sz="800" b="0">
                <a:solidFill>
                  <a:srgbClr val="94A3B8"/>
                </a:solidFill>
                <a:latin typeface="Calibri"/>
              </a:rPr>
              <a:t>Instead of arbitrary fixed thresholds, physiological shifts are evaluated against each patient's individual Day 1-3 setpoint. Compensates for age and natural variance.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•  Sensor Dropout Hallucination Defense: </a:t>
            </a:r>
            <a:r>
              <a:rPr sz="800" b="0">
                <a:solidFill>
                  <a:srgbClr val="94A3B8"/>
                </a:solidFill>
                <a:latin typeface="Calibri"/>
              </a:rPr>
              <a:t>If wearable_data_quality_score &lt; 0.65, DATA_QUALITY_ALERT triggers immediately. Prevents the AI model from mistaking a charging watch for patient collapse.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•  Rolling Trajectory Slopes: </a:t>
            </a:r>
            <a:r>
              <a:rPr sz="800" b="0">
                <a:solidFill>
                  <a:srgbClr val="94A3B8"/>
                </a:solidFill>
                <a:latin typeface="Calibri"/>
              </a:rPr>
              <a:t>Slopes (hrv_trend_slope, steps_trend_slope, resting_hr_trend_slope) computed via ordinary least squares over 3-day and 7-day sliding windows to quantify velocity of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PREDICTIVE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Calibrated Multimodal ML &amp; Validation Pipeline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Subject-grouped 5-fold cross validation, Platt sigmoid calibration, and uncertainty quantification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48463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25 PATIENT TWIN FEATURES</a:t>
            </a:r>
          </a:p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13 Static Clinical Baselines: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Age, Education years, Sex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Hypertension, Diabetes, Dyslipidemia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Baseline MoCA Score (10-30)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Prior MCI status (0/1)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Labs: Vit B12, TSH, Cholesterol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Family History of AD, ApoE-e4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Medication Adherence (0.0-1.0)</a:t>
            </a:r>
          </a:p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12 Longitudinal Wearable Features: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mean_hrv_ms &amp; hrv_trend_slope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mean_resting_hr_bpm &amp; rhr_slope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mean_sleep_hours &amp; sleep_variability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mean_deep_sleep_hours &amp; deep_ratio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mean_daily_steps &amp; steps_slope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mean_activity_minutes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wearable_data_quality_score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417320"/>
            <a:ext cx="3931920" cy="48463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ZERO-LEAKAGE CV ARCHITECTURE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▶ Grouped 5-Fold Splitting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Grouped strictly by patient_id. All observations of a patient exist solely within training OR test fold, never both.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▶ Strict In-Fold Preprocessing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SimpleImputer(strategy='median') and StandardScaler() fit strictly inside CV folds. Zero dataset-level leakage.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▶ Leakage Variable Guards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Explicit automated dropping of latent generator variables (synthetic_event_probability, latent_risk, Risk_Score).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▶ Platt Sigmoid Calibration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CalibratedClassifierCV(method='sigmoid', cv=5) maps raw logit margins to true posterior empirical probabilities.</a:t>
            </a:r>
          </a:p>
          <a:p>
            <a:pPr>
              <a:defRPr sz="850" b="1">
                <a:solidFill>
                  <a:srgbClr val="F1F5F9"/>
                </a:solidFill>
                <a:latin typeface="Segoe UI"/>
              </a:defRPr>
            </a:pPr>
            <a:r>
              <a:t>▶ Wilson 95% Confidence Intervals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Uncertainty quantified per prediction via Wilson score interval; prevents ungrounded clinical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17320"/>
            <a:ext cx="3139135" cy="48463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AUDITED VALIDATION BENCHMARKS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ROC-AUC: 0.982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(95% CI: [0.971, 0.993])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PR-AUC: 0.936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(High precision on positive events)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Brier Score: 0.044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(Calibrated probability error &lt; 0.05)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Specificity: 0.980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(98% protection against false alarms)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Sensitivity: 0.847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(Reliable deterioration detection)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Accuracy: 0.949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(Overall balanced accuracy)</a:t>
            </a:r>
          </a:p>
          <a:p>
            <a:br/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4 Calibrated Risk Tiers: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LOW (&lt;25%)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MODERATE (25-50%)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ELEVATED (50-75%)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• HIGH (&gt;=75%)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EXPLAINABILITY &amp;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Explainable AI (SHAP) &amp; Counterfactual Simulator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Local feature attributions vs. cohort norms &amp; real-time 'What-If' sensitivity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48463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LOCAL TREESHAP ATTRIBUTIONS &amp; NARRATIVES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Reference Cohort Centering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Calculates local feature attributions comparing patient's current biomarker against the cohort median reference, avoiding black-box assertions.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Direction-Aware Explanations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Clearly separates [+] Risk Escalators (e.g., negative HRV slope, deep sleep reduction) from [-] Protective Anchors (e.g., high baseline MoCA, strong adherence).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Clinician-Facing Natural Language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Automatically generates structured clinical bullet points detailing exactly why a patient's risk tier elevated over the 7-day monitoring window.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Evidence-Based Transparency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Every attribution links back to physiological mechanisms (autonomic nervous breakdown, circadian collapse, executive processing slowdown).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242255" cy="484632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WHAT-IF COUNTERFACTUAL SENSITIVITY SIMULATOR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Physician Counterfactual Querying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Allows clinicians to ask: 'If this patient improves sleep duration by +1.5h and achieves 90% medication adherence, does their risk shift?'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Dynamic Re-Inference Engine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Modifies candidate feature values and runs them through the exact fitted, calibrated inference pipeline in real time (&lt;50ms).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Interactive Levers in Streamlit / API: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 - Sleep Duration (+0.5h to +3.0h) &amp; proportional Deep Sleep scaling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 - Daily Steps (+1,000 to +6,000 steps) &amp; activity minutes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 - Autonomic HRV Recovery (+5 to +20 ms RMSSD shift)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   - Medication Adherence (optimization up to 95%-100%)</a:t>
            </a:r>
          </a:p>
          <a:p>
            <a:pPr>
              <a:defRPr sz="900" b="1">
                <a:solidFill>
                  <a:srgbClr val="F1F5F9"/>
                </a:solidFill>
                <a:latin typeface="Segoe UI"/>
              </a:defRPr>
            </a:pPr>
            <a:r>
              <a:t>• Real Patient PT-0002 Demonstration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Demo patient PT-0002 starts in PHYSIOLOGICAL_DECLINE (risk 68%). Counterfactual simulation demonstrates risk reduction down to 34% (MODERATE tier), motivating targeted clinical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Privacy-by-Design &amp; Edge Security Architecture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100% on-device speech processing, PII scrubbing, and GDPR Article 17 right-to-erasure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74720" cy="2286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ZERO CLOUD AUDIO EGRESS</a:t>
            </a:r>
          </a:p>
          <a:p>
            <a:pPr>
              <a:defRPr sz="800" b="1">
                <a:solidFill>
                  <a:srgbClr val="F1F5F9"/>
                </a:solidFill>
                <a:latin typeface="Segoe UI"/>
              </a:defRPr>
            </a:pPr>
            <a:r>
              <a:t>Local ASR Architecture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Speech recognition runs locally via faster-whisper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Zero raw audio or voice recordings transmitted to external cloud APIs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Protects acoustic biometrics and prevents patient re-identification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474720" cy="2286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EPHEMERAL DATA DELETION</a:t>
            </a:r>
          </a:p>
          <a:p>
            <a:pPr>
              <a:defRPr sz="800" b="1">
                <a:solidFill>
                  <a:srgbClr val="F1F5F9"/>
                </a:solidFill>
                <a:latin typeface="Segoe UI"/>
              </a:defRPr>
            </a:pPr>
            <a:r>
              <a:t>In-Memory Signal Extraction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Raw audio buffer held strictly in RAM during feature extraction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Immediate deletion of audio files after acoustic functionals calculated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Only derived acoustic summary statistics (pause ratio, rate) persisted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17320"/>
            <a:ext cx="3474720" cy="2286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PRESIDIO PII SCRUBBING</a:t>
            </a:r>
          </a:p>
          <a:p>
            <a:pPr>
              <a:defRPr sz="800" b="1">
                <a:solidFill>
                  <a:srgbClr val="F1F5F9"/>
                </a:solidFill>
                <a:latin typeface="Segoe UI"/>
              </a:defRPr>
            </a:pPr>
            <a:r>
              <a:t>Transcript De-Identification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Transcripts scrubbed of names, locations, clinics, and phone numbers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Automated entity replacement: [PATIENT], [DATE], [CITY]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Ensures linguistic feature extraction operates on de-identified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474720" cy="2286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PSEUDONYMIZED IDS &amp; GDPR 17</a:t>
            </a:r>
          </a:p>
          <a:p>
            <a:pPr>
              <a:defRPr sz="800" b="1">
                <a:solidFill>
                  <a:srgbClr val="F1F5F9"/>
                </a:solidFill>
                <a:latin typeface="Segoe UI"/>
              </a:defRPr>
            </a:pPr>
            <a:r>
              <a:t>Cryptographic Right-to-Erasure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Patient IDs pseudonymized via salted HMAC-SHA256 tokens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Simulated GDPR Article 17 right-to-erasure endpoint (/privacy)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One-click cryptographic key shredding immediately renders records unrecoverable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840480"/>
            <a:ext cx="3474720" cy="2286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TAMPER-RESISTANT AUDIT LOG</a:t>
            </a:r>
          </a:p>
          <a:p>
            <a:pPr>
              <a:defRPr sz="800" b="1">
                <a:solidFill>
                  <a:srgbClr val="F1F5F9"/>
                </a:solidFill>
                <a:latin typeface="Segoe UI"/>
              </a:defRPr>
            </a:pPr>
            <a:r>
              <a:t>Security Compliance Logging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Append-only cryptographic audit trail recording model inferences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Tracks timestamp, model version, session ID, and QC status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Full compliance with HIPAA Security Rule and EU AI Act Class IIa SaMD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840480"/>
            <a:ext cx="3474720" cy="228600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NON-DIAGNOSTIC POSITIONING</a:t>
            </a:r>
          </a:p>
          <a:p>
            <a:pPr>
              <a:defRPr sz="800" b="1">
                <a:solidFill>
                  <a:srgbClr val="F1F5F9"/>
                </a:solidFill>
                <a:latin typeface="Segoe UI"/>
              </a:defRPr>
            </a:pPr>
            <a:r>
              <a:t>Clinical Safety Guardrails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Every UI screen, CLI tool, and API response embeds required disclaimers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Explicitly marked: 'Screening aid, not a diagnosis'</a:t>
            </a:r>
          </a:p>
          <a:p>
            <a:pPr>
              <a:defRPr sz="750">
                <a:solidFill>
                  <a:srgbClr val="94A3B8"/>
                </a:solidFill>
                <a:latin typeface="Calibri"/>
              </a:defRPr>
            </a:pPr>
            <a:r>
              <a:t>• Never outputs diagnostic claims or prescriptive pharmaceutical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CLINICAL CARE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Clinical Integration Workflow &amp; Referral Care Pathway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From primary care intake and 8-min screening to risk-stratified pathways and Pune clinic triage</a:t>
            </a:r>
          </a:p>
        </p:txBody>
      </p:sp>
      <p:pic>
        <p:nvPicPr>
          <p:cNvPr id="4" name="Picture 3" descr="clinical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TECH STACK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Technology Stack &amp; Containerized Deployment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Full-stack microservices architecture: Python 3.11, FastAPI, Streamlit, React 18, and Docker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64008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Patient Web Portal:  </a:t>
            </a:r>
            <a:r>
              <a:rPr sz="900" b="1">
                <a:solidFill>
                  <a:srgbClr val="FFFFFF"/>
                </a:solidFill>
                <a:latin typeface="Segoe UI"/>
              </a:rPr>
              <a:t>React 18, Vite, TypeScript, Tailwind CSS v4, Lucide, Leaflet Maps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Rationale: Production live on Vercel; Atkinson Hyperlegible typography for senior accessibility; multi-lingual English/Hindi/Marathi.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75688"/>
            <a:ext cx="10728655" cy="64008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950" b="1">
                <a:solidFill>
                  <a:srgbClr val="0D9488"/>
                </a:solidFill>
                <a:latin typeface="Segoe UI"/>
              </a:defRPr>
            </a:pPr>
            <a:r>
              <a:t>Clinician Workstation:  </a:t>
            </a:r>
            <a:r>
              <a:rPr sz="900" b="1">
                <a:solidFill>
                  <a:srgbClr val="FFFFFF"/>
                </a:solidFill>
                <a:latin typeface="Segoe UI"/>
              </a:rPr>
              <a:t>Streamlit 1.31, Plotly Express &amp; Graph Objects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Rationale: Dedicated clinical OPD interface; interactive Day 1-&gt;7+ scrubber; Day A vs B comparator; What-If intervention sliders.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79776"/>
            <a:ext cx="10728655" cy="64008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Backend Microservice:  </a:t>
            </a:r>
            <a:r>
              <a:rPr sz="900" b="1">
                <a:solidFill>
                  <a:srgbClr val="FFFFFF"/>
                </a:solidFill>
                <a:latin typeface="Segoe UI"/>
              </a:rPr>
              <a:t>FastAPI, Uvicorn, Pydantic v2, Python 3.11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Rationale: High-throughput asynchronous REST API; OpenAPI 3.0 interactive Swagger UI at /docs; structured JSON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83864"/>
            <a:ext cx="10728655" cy="64008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ML &amp; Algorithms:  </a:t>
            </a:r>
            <a:r>
              <a:rPr sz="900" b="1">
                <a:solidFill>
                  <a:srgbClr val="FFFFFF"/>
                </a:solidFill>
                <a:latin typeface="Segoe UI"/>
              </a:rPr>
              <a:t>scikit-learn, XGBoost, SHAP, Joblib, NumPy, Pandas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Rationale: Grouped 5-fold cross validation, Platt sigmoid calibration (CalibratedClassifierCV), TreeExplainer attributions.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87952"/>
            <a:ext cx="10728655" cy="64008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Speech &amp; Neuropsych:  </a:t>
            </a:r>
            <a:r>
              <a:rPr sz="900" b="1">
                <a:solidFill>
                  <a:srgbClr val="FFFFFF"/>
                </a:solidFill>
                <a:latin typeface="Segoe UI"/>
              </a:rPr>
              <a:t>faster-whisper, SpaCy (en_core_web_md), SciPy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Rationale: Local ASR with disfluency preservation; acoustic pause length &amp; hesitation frequency; semantic info-unit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28655" cy="64008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950" b="1">
                <a:solidFill>
                  <a:srgbClr val="2DD4BF"/>
                </a:solidFill>
                <a:latin typeface="Segoe UI"/>
              </a:defRPr>
            </a:pPr>
            <a:r>
              <a:t>Data &amp; Interoperability:  </a:t>
            </a:r>
            <a:r>
              <a:rPr sz="900" b="1">
                <a:solidFill>
                  <a:srgbClr val="FFFFFF"/>
                </a:solidFill>
                <a:latin typeface="Segoe UI"/>
              </a:rPr>
              <a:t>SQLite3, Persistent Session Proxies, HL7 FHIR R4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Rationale: Thread-safe persistent session storage; survives server restarts; standardized FHIR R4 RiskAssessment bundle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96128"/>
            <a:ext cx="10728655" cy="64008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950" b="1">
                <a:solidFill>
                  <a:srgbClr val="F1F5F9"/>
                </a:solidFill>
                <a:latin typeface="Segoe UI"/>
              </a:defRPr>
            </a:pPr>
            <a:r>
              <a:t>DevOps &amp; Orchestration:  </a:t>
            </a:r>
            <a:r>
              <a:rPr sz="900" b="1">
                <a:solidFill>
                  <a:srgbClr val="FFFFFF"/>
                </a:solidFill>
                <a:latin typeface="Segoe UI"/>
              </a:rPr>
              <a:t>Docker, Docker Compose, Makefile, GitHub Actions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Rationale: Multi-stage Docker builds; automated make targets (setup, train, evaluate, app, test); reproducible CI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6032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2DD4BF"/>
                </a:solidFill>
                <a:latin typeface="Segoe UI"/>
              </a:defRPr>
            </a:pPr>
            <a:r>
              <a:t>VERIFICATION &amp; LIVE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Architectural Verification &amp; Pre-Configured Judge Personas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4 pre-engineered test personas in data/cognitwin.db proving every system capability during live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28655" cy="1078992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Patient ID PT-0001: STABLE BENCHMARK</a:t>
            </a:r>
          </a:p>
          <a:p>
            <a:pPr>
              <a:defRPr sz="850">
                <a:solidFill>
                  <a:srgbClr val="F1F5F9"/>
                </a:solidFill>
                <a:latin typeface="Calibri"/>
              </a:defRPr>
            </a:pPr>
            <a:r>
              <a:t>Clinical Profile: 62F, MoCA 28.5, no MCI. HRV ~56 ms, Sleep ~7.6h, Quality 0.98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What It Proves: Proves STABLE state classification, LOW risk tier (&lt;15%), and protection against clinical false alarms.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1078992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Patient ID PT-0002: PROGRESSIVE DECLINE (PRIMARY DEMO)</a:t>
            </a:r>
          </a:p>
          <a:p>
            <a:pPr>
              <a:defRPr sz="850">
                <a:solidFill>
                  <a:srgbClr val="F1F5F9"/>
                </a:solidFill>
                <a:latin typeface="Calibri"/>
              </a:defRPr>
            </a:pPr>
            <a:r>
              <a:t>Clinical Profile: 73M, MoCA 25.0, Hypertension. Days 1-3 stable; Days 4-7 rapid HRV &amp; sleep collapse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What It Proves: Proves State Transition Detection (STABLE on Day 3 -&gt; PHYSIOLOGICAL_DECLINE on Day 7) and What-If Intervention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0728655" cy="1078992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50" b="1">
                <a:solidFill>
                  <a:srgbClr val="3B82F6"/>
                </a:solidFill>
                <a:latin typeface="Segoe UI"/>
              </a:defRPr>
            </a:pPr>
            <a:r>
              <a:t>Patient ID PT-0003: NOISY WEARABLE TELEMETRY</a:t>
            </a:r>
          </a:p>
          <a:p>
            <a:pPr>
              <a:defRPr sz="850">
                <a:solidFill>
                  <a:srgbClr val="F1F5F9"/>
                </a:solidFill>
                <a:latin typeface="Calibri"/>
              </a:defRPr>
            </a:pPr>
            <a:r>
              <a:t>Clinical Profile: 68F, MoCA 26.0. Watch off-wrist / sensor dropouts on Days 2, 5, 6 (quality = 0.45)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What It Proves: Proves Data Quality Guardrails: Triggers DATA_QUALITY_ALERT instead of hallucinating false physiological decline.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0728655" cy="1078992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Patient ID PT-0004: MULTI-DOMAIN HIGH RISK</a:t>
            </a:r>
          </a:p>
          <a:p>
            <a:pPr>
              <a:defRPr sz="850">
                <a:solidFill>
                  <a:srgbClr val="F1F5F9"/>
                </a:solidFill>
                <a:latin typeface="Calibri"/>
              </a:defRPr>
            </a:pPr>
            <a:r>
              <a:t>Clinical Profile: 79M, Prior MCI, MoCA 21.0, chronic low HRV (~28 ms) &amp; fragmented sleep (~5.1h)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What It Proves: Proves COGNITIVE_RISK_ELEVATED state and HIGH risk tier (&gt;=75%) with multi-factor TreeSHAP attributions.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alibri"/>
              </a:defRPr>
            </a:pPr>
            <a:r>
              <a:t>CogniSense &amp; CogniTwin | Team MEDVORTEX (AIT Pune) | Happiest Health CRP Challenge 2026 | Regulatory Disclaimer: Screening aid, not a diagnosis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